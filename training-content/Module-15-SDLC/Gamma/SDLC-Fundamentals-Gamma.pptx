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image" Target="../media/image-8-1.png"/><Relationship Id="rId10" Type="http://schemas.openxmlformats.org/officeDocument/2006/relationships/image" Target="../media/image-8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2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1.png"/><Relationship Id="rId4" Type="http://schemas.openxmlformats.org/officeDocument/2006/relationships/image" Target="../media/image-26-2.svg"/><Relationship Id="rId5" Type="http://schemas.openxmlformats.org/officeDocument/2006/relationships/image" Target="../media/image-26-5.png"/><Relationship Id="rId6" Type="http://schemas.openxmlformats.org/officeDocument/2006/relationships/image" Target="../media/image-26-6.svg"/><Relationship Id="rId7" Type="http://schemas.openxmlformats.org/officeDocument/2006/relationships/image" Target="../media/image-26-5.png"/><Relationship Id="rId8" Type="http://schemas.openxmlformats.org/officeDocument/2006/relationships/image" Target="../media/image-26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image" Target="../media/image-30-3.png"/><Relationship Id="rId4" Type="http://schemas.openxmlformats.org/officeDocument/2006/relationships/image" Target="../media/image-30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image" Target="../media/image-32-1.png"/><Relationship Id="rId4" Type="http://schemas.openxmlformats.org/officeDocument/2006/relationships/image" Target="../media/image-32-2.svg"/><Relationship Id="rId5" Type="http://schemas.openxmlformats.org/officeDocument/2006/relationships/image" Target="../media/image-32-1.png"/><Relationship Id="rId6" Type="http://schemas.openxmlformats.org/officeDocument/2006/relationships/image" Target="../media/image-32-2.svg"/><Relationship Id="rId7" Type="http://schemas.openxmlformats.org/officeDocument/2006/relationships/image" Target="../media/image-32-1.png"/><Relationship Id="rId8" Type="http://schemas.openxmlformats.org/officeDocument/2006/relationships/image" Target="../media/image-32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svg"/><Relationship Id="rId3" Type="http://schemas.openxmlformats.org/officeDocument/2006/relationships/image" Target="../media/image-38-3.png"/><Relationship Id="rId4" Type="http://schemas.openxmlformats.org/officeDocument/2006/relationships/image" Target="../media/image-38-4.svg"/><Relationship Id="rId5" Type="http://schemas.openxmlformats.org/officeDocument/2006/relationships/image" Target="../media/image-38-5.png"/><Relationship Id="rId6" Type="http://schemas.openxmlformats.org/officeDocument/2006/relationships/image" Target="../media/image-38-6.svg"/><Relationship Id="rId7" Type="http://schemas.openxmlformats.org/officeDocument/2006/relationships/image" Target="../media/image-38-7.png"/><Relationship Id="rId8" Type="http://schemas.openxmlformats.org/officeDocument/2006/relationships/image" Target="../media/image-38-8.svg"/><Relationship Id="rId9" Type="http://schemas.openxmlformats.org/officeDocument/2006/relationships/image" Target="../media/image-38-9.png"/><Relationship Id="rId10" Type="http://schemas.openxmlformats.org/officeDocument/2006/relationships/image" Target="../media/image-3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1.png"/><Relationship Id="rId4" Type="http://schemas.openxmlformats.org/officeDocument/2006/relationships/image" Target="../media/image-26-2.svg"/><Relationship Id="rId5" Type="http://schemas.openxmlformats.org/officeDocument/2006/relationships/image" Target="../media/image-26-1.png"/><Relationship Id="rId6" Type="http://schemas.openxmlformats.org/officeDocument/2006/relationships/image" Target="../media/image-26-2.svg"/><Relationship Id="rId7" Type="http://schemas.openxmlformats.org/officeDocument/2006/relationships/image" Target="../media/image-26-1.png"/><Relationship Id="rId8" Type="http://schemas.openxmlformats.org/officeDocument/2006/relationships/image" Target="../media/image-26-2.svg"/><Relationship Id="rId9" Type="http://schemas.openxmlformats.org/officeDocument/2006/relationships/image" Target="../media/image-5-2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svg"/><Relationship Id="rId3" Type="http://schemas.openxmlformats.org/officeDocument/2006/relationships/image" Target="../media/image-43-3.png"/><Relationship Id="rId4" Type="http://schemas.openxmlformats.org/officeDocument/2006/relationships/image" Target="../media/image-43-4.svg"/><Relationship Id="rId5" Type="http://schemas.openxmlformats.org/officeDocument/2006/relationships/image" Target="../media/image-43-5.png"/><Relationship Id="rId6" Type="http://schemas.openxmlformats.org/officeDocument/2006/relationships/image" Target="../media/image-43-6.svg"/><Relationship Id="rId7" Type="http://schemas.openxmlformats.org/officeDocument/2006/relationships/image" Target="../media/image-43-7.png"/><Relationship Id="rId8" Type="http://schemas.openxmlformats.org/officeDocument/2006/relationships/image" Target="../media/image-43-8.svg"/><Relationship Id="rId9" Type="http://schemas.openxmlformats.org/officeDocument/2006/relationships/image" Target="../media/image-43-9.png"/><Relationship Id="rId10" Type="http://schemas.openxmlformats.org/officeDocument/2006/relationships/image" Target="../media/image-43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e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image" Target="../media/image-5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svg"/><Relationship Id="rId3" Type="http://schemas.openxmlformats.org/officeDocument/2006/relationships/image" Target="../media/image-52-3.png"/><Relationship Id="rId4" Type="http://schemas.openxmlformats.org/officeDocument/2006/relationships/image" Target="../media/image-52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52-7.png"/><Relationship Id="rId8" Type="http://schemas.openxmlformats.org/officeDocument/2006/relationships/image" Target="../media/image-52-8.svg"/><Relationship Id="rId9" Type="http://schemas.openxmlformats.org/officeDocument/2006/relationships/image" Target="../media/image-52-9.png"/><Relationship Id="rId10" Type="http://schemas.openxmlformats.org/officeDocument/2006/relationships/image" Target="../media/image-52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svg"/><Relationship Id="rId4" Type="http://schemas.openxmlformats.org/officeDocument/2006/relationships/image" Target="../media/image-59-4.png"/><Relationship Id="rId5" Type="http://schemas.openxmlformats.org/officeDocument/2006/relationships/image" Target="../media/image-59-5.png"/><Relationship Id="rId6" Type="http://schemas.openxmlformats.org/officeDocument/2006/relationships/image" Target="../media/image-59-6.svg"/><Relationship Id="rId7" Type="http://schemas.openxmlformats.org/officeDocument/2006/relationships/image" Target="../media/image-59-7.png"/><Relationship Id="rId8" Type="http://schemas.openxmlformats.org/officeDocument/2006/relationships/image" Target="../media/image-59-8.png"/><Relationship Id="rId9" Type="http://schemas.openxmlformats.org/officeDocument/2006/relationships/image" Target="../media/image-59-9.svg"/><Relationship Id="rId10" Type="http://schemas.openxmlformats.org/officeDocument/2006/relationships/image" Target="../media/image-59-10.png"/><Relationship Id="rId11" Type="http://schemas.openxmlformats.org/officeDocument/2006/relationships/image" Target="../media/image-59-11.png"/><Relationship Id="rId12" Type="http://schemas.openxmlformats.org/officeDocument/2006/relationships/image" Target="../media/image-59-12.svg"/><Relationship Id="rId13" Type="http://schemas.openxmlformats.org/officeDocument/2006/relationships/image" Target="../media/image-59-13.png"/><Relationship Id="rId14" Type="http://schemas.openxmlformats.org/officeDocument/2006/relationships/image" Target="../media/image-59-14.png"/><Relationship Id="rId15" Type="http://schemas.openxmlformats.org/officeDocument/2006/relationships/image" Target="../media/image-59-15.svg"/><Relationship Id="rId16" Type="http://schemas.openxmlformats.org/officeDocument/2006/relationships/image" Target="../media/image-59-16.png"/><Relationship Id="rId17" Type="http://schemas.openxmlformats.org/officeDocument/2006/relationships/image" Target="../media/image-59-17.png"/><Relationship Id="rId18" Type="http://schemas.openxmlformats.org/officeDocument/2006/relationships/image" Target="../media/image-59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9080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SDLC Fundamentals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464917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idea to production—and the sustain engineer's role at every stage.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979962"/>
            <a:ext cx="1036215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4879" y="4036616"/>
            <a:ext cx="141899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15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792143" y="3979962"/>
            <a:ext cx="2593513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05548" y="4036616"/>
            <a:ext cx="297629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 ENGINEERING TRAINING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80111" y="3979962"/>
            <a:ext cx="1411947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93515" y="4036616"/>
            <a:ext cx="179472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AUGUST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35795"/>
            <a:ext cx="10868745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b="1" spc="-15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production defect is reported at 9:00 AM.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661475" y="4149626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spc="-8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must happen before a safe fix reaches customers?</a:t>
            </a:r>
            <a:endParaRPr lang="en-US" sz="2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54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you will be able to do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09411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2365" y="212953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75723" y="2159000"/>
            <a:ext cx="102544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Map the complete software lifecycle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61475" y="2897386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2365" y="2932807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75723" y="2962275"/>
            <a:ext cx="102544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Choose an appropriate delivery method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61475" y="370066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2365" y="373608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75723" y="3765550"/>
            <a:ext cx="102544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Read BRD, SRS, and FRD documents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661475" y="4503936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2365" y="4539357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75723" y="4568825"/>
            <a:ext cx="102544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Connect SDLC with testing and environments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61475" y="530721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2365" y="534263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75723" y="5372100"/>
            <a:ext cx="102544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 a controlled sustain change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58077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SDLC in one sentence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944936" y="3762077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Software Development Life Cycle is a structured way to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plan, build, verify, release, operate, and retire software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549452"/>
            <a:ext cx="25399" cy="727670"/>
          </a:xfrm>
          <a:prstGeom prst="roundRect">
            <a:avLst>
              <a:gd name="adj" fmla="val 50001"/>
            </a:avLst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0523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structure matters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079353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a lifecycle, teams optimize for speed today and create incidents tomorrow.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896816"/>
            <a:ext cx="6296860" cy="755948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4164509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4133056"/>
            <a:ext cx="61031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 makes change repeatable, visible, and safer.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31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lifecycle at a glance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1681857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67137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67137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67137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67137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671378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84239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stage produces evidence that the next stage depends on. Skipping stages does not remove the risk—it hides it.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43959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1: Planning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31370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work matters,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success means, and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whether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 is feasible.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131171"/>
            <a:ext cx="1152199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774879" y="4187825"/>
            <a:ext cx="153497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1 OF 8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77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spc="-8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Planning outputs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276152"/>
            <a:ext cx="10868745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6356" y="158799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406291" y="1446411"/>
            <a:ext cx="995367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charter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04355"/>
            <a:ext cx="10868745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6356" y="2616200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406291" y="2474615"/>
            <a:ext cx="995367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Scope and milestones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332559"/>
            <a:ext cx="10868745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6356" y="3644404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1406291" y="3502819"/>
            <a:ext cx="995367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Budget and resources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360763"/>
            <a:ext cx="10868745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6356" y="4672608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1406291" y="4531023"/>
            <a:ext cx="995367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register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388967"/>
            <a:ext cx="10868745" cy="9072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6356" y="5700812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1406291" y="5559227"/>
            <a:ext cx="995367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Success measures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12070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2: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99481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business intent into clear, testable requirements.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516821" y="3722489"/>
            <a:ext cx="66229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key question: What must the system do—and how well?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3509863"/>
            <a:ext cx="25399" cy="727670"/>
          </a:xfrm>
          <a:prstGeom prst="roundRect">
            <a:avLst>
              <a:gd name="adj" fmla="val 50001"/>
            </a:avLst>
          </a:prstGeom>
          <a:solidFill>
            <a:srgbClr val="4950BC"/>
          </a:solidFill>
          <a:ln/>
        </p:spPr>
      </p:sp>
      <p:sp>
        <p:nvSpPr>
          <p:cNvPr id="7" name="Shape 4"/>
          <p:cNvSpPr/>
          <p:nvPr/>
        </p:nvSpPr>
        <p:spPr>
          <a:xfrm>
            <a:off x="5233360" y="4450159"/>
            <a:ext cx="1182956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8" name="Text 5"/>
          <p:cNvSpPr/>
          <p:nvPr/>
        </p:nvSpPr>
        <p:spPr>
          <a:xfrm>
            <a:off x="5346765" y="4506813"/>
            <a:ext cx="156573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2 OF 8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73002"/>
            <a:ext cx="6903269" cy="39118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1416149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Functional requirements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032251" y="2786459"/>
            <a:ext cx="41138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system behavior.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8032251" y="3301504"/>
            <a:ext cx="3504219" cy="1039416"/>
          </a:xfrm>
          <a:prstGeom prst="roundRect">
            <a:avLst>
              <a:gd name="adj" fmla="val 7638"/>
            </a:avLst>
          </a:prstGeom>
          <a:solidFill>
            <a:srgbClr val="B6D6F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58" y="3588246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46499" y="3518793"/>
            <a:ext cx="27009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"A customer can search restaurants by cuisine."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8032251" y="4553545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requirements define what the system does—the actions, transactions, and behaviors users can invoke.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64940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Non-functional requirements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35250"/>
            <a:ext cx="41138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quality and constraints.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150295"/>
            <a:ext cx="3504219" cy="1341834"/>
          </a:xfrm>
          <a:prstGeom prst="roundRect">
            <a:avLst>
              <a:gd name="adj" fmla="val 5916"/>
            </a:avLst>
          </a:prstGeom>
          <a:solidFill>
            <a:srgbClr val="B6D6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3437037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3367584"/>
            <a:ext cx="27009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"Search results appear within two seconds for 95% of requests."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61475" y="4704755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Non-functional requirements define how well the system performs—speed, reliability, security, and scalability.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201" y="1473002"/>
            <a:ext cx="6903269" cy="39118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4254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requirement must be testable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211215"/>
            <a:ext cx="10868745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3217565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66156" y="0"/>
                </a:moveTo>
                <a:lnTo>
                  <a:pt x="5428023" y="0"/>
                </a:lnTo>
                <a:lnTo>
                  <a:pt x="5428023" y="1391543"/>
                </a:lnTo>
                <a:lnTo>
                  <a:pt x="66156" y="1391543"/>
                </a:lnTo>
                <a:arcTo hR="66158" wR="66156" stAng="5400000" swAng="5400000"/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5" name="Text 3"/>
          <p:cNvSpPr/>
          <p:nvPr/>
        </p:nvSpPr>
        <p:spPr>
          <a:xfrm>
            <a:off x="856832" y="3406577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Weak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815259"/>
            <a:ext cx="50500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app should be fast."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95848" y="3217565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0" y="0"/>
                </a:moveTo>
                <a:lnTo>
                  <a:pt x="5361866" y="0"/>
                </a:lnTo>
                <a:arcTo hR="66158" wR="66156" stAng="16200000" swAng="5400000"/>
                <a:lnTo>
                  <a:pt x="5428023" y="1325385"/>
                </a:lnTo>
                <a:arcTo hR="66158" wR="66156" stAng="0" swAng="5400000"/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3217565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/>
        </p:spPr>
      </p:sp>
      <p:sp>
        <p:nvSpPr>
          <p:cNvPr id="9" name="Text 7"/>
          <p:cNvSpPr/>
          <p:nvPr/>
        </p:nvSpPr>
        <p:spPr>
          <a:xfrm>
            <a:off x="6284854" y="3406577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Strong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284854" y="3815259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"Checkout completes within three seconds at 2,000 concurrent users."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43959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3: Design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31370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 requirements into a technical solution before writing production code.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131171"/>
            <a:ext cx="1184146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4187825"/>
            <a:ext cx="156692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3 OF 8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06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decisions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29321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738041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 and service boundaries</a:t>
            </a:r>
            <a:endParaRPr lang="en-US" sz="1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029321"/>
            <a:ext cx="472468" cy="472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13915" y="2738041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model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411339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1475" y="4120059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APIs and integrations</a:t>
            </a:r>
            <a:endParaRPr lang="en-US" sz="1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3411339"/>
            <a:ext cx="472468" cy="4724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213915" y="4120059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controls</a:t>
            </a:r>
            <a:endParaRPr lang="en-US" sz="18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793357"/>
            <a:ext cx="472468" cy="47248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61475" y="5502077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Failure handling</a:t>
            </a:r>
            <a:endParaRPr lang="en-US" sz="18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13915" y="4793357"/>
            <a:ext cx="472468" cy="47248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213915" y="5502077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experience</a:t>
            </a:r>
            <a:endParaRPr lang="en-US" sz="1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1932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for failure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093442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 systems ask early: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944936" y="3821113"/>
            <a:ext cx="601339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happens when payment, inventory, or notification services are unavailable?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608487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9080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4: Build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464917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the solution in small, reviewable, testable changes.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979962"/>
            <a:ext cx="1188412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4036616"/>
            <a:ext cx="157118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4 OF 8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7337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5: Test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944936" y="3254673"/>
            <a:ext cx="10585284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does not prove perfection.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provides evidence that the system behaves as expected under known conditions.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042047"/>
            <a:ext cx="25399" cy="1242715"/>
          </a:xfrm>
          <a:prstGeom prst="roundRect">
            <a:avLst>
              <a:gd name="adj" fmla="val 50001"/>
            </a:avLst>
          </a:prstGeom>
          <a:solidFill>
            <a:srgbClr val="4950BC"/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4497388"/>
            <a:ext cx="1180376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6" name="Text 4"/>
          <p:cNvSpPr/>
          <p:nvPr/>
        </p:nvSpPr>
        <p:spPr>
          <a:xfrm>
            <a:off x="774879" y="4554041"/>
            <a:ext cx="156315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5 OF 8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43959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6: Deploy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31370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a verified change through a controlled, observable, reversible process.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131171"/>
            <a:ext cx="1184444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774879" y="4187825"/>
            <a:ext cx="156722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6 OF 8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1526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safe deployment has four parts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83941"/>
            <a:ext cx="5434373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3429000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Approved change</a:t>
            </a:r>
            <a:endParaRPr lang="en-US" sz="1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2483941"/>
            <a:ext cx="5434373" cy="7560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4854" y="3429000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Verified artifact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913287"/>
            <a:ext cx="5434373" cy="75604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50482" y="4858345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Health checks</a:t>
            </a:r>
            <a:endParaRPr lang="en-US" sz="1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3913287"/>
            <a:ext cx="5434373" cy="75604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284854" y="4858345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Rollback plan</a:t>
            </a:r>
            <a:endParaRPr lang="en-US" sz="1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10651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7: Maintain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980630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Monitor, support, repair, improve, and protect the live service.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495675"/>
            <a:ext cx="6296860" cy="755948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3763367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3731915"/>
            <a:ext cx="61031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This is the sustain engineer's home ground.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61475" y="4464248"/>
            <a:ext cx="1176308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9" name="Text 5"/>
          <p:cNvSpPr/>
          <p:nvPr/>
        </p:nvSpPr>
        <p:spPr>
          <a:xfrm>
            <a:off x="774879" y="4520902"/>
            <a:ext cx="155908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7 OF 8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210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Maintenance still uses the lifecycle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78844"/>
            <a:ext cx="6903269" cy="3374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4087" y="3339872"/>
            <a:ext cx="1609361" cy="20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spc="-3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Analyze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638848" y="2567359"/>
            <a:ext cx="1609361" cy="20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spc="-3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32688" y="4155301"/>
            <a:ext cx="1609361" cy="20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spc="-3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970886" y="4942120"/>
            <a:ext cx="1609361" cy="20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spc="-3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&amp; Deploy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32251" y="2916337"/>
            <a:ext cx="35042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production fix still requires analysis, design, build, test, and deployment.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032251" y="3733800"/>
            <a:ext cx="3504219" cy="1039416"/>
          </a:xfrm>
          <a:prstGeom prst="roundRect">
            <a:avLst>
              <a:gd name="adj" fmla="val 7638"/>
            </a:avLst>
          </a:prstGeom>
          <a:solidFill>
            <a:srgbClr val="FCF2B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58" y="4020542"/>
            <a:ext cx="236234" cy="1890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46499" y="3951089"/>
            <a:ext cx="27009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Maintenance is not a shortcut around engineering discipline.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43959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8: Retire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31370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End-of-life is a planned engineering activity—not simply switching a server off.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131171"/>
            <a:ext cx="1184245" cy="287139"/>
          </a:xfrm>
          <a:prstGeom prst="roundRect">
            <a:avLst>
              <a:gd name="adj" fmla="val 22118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4187825"/>
            <a:ext cx="156702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8 OF 8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4254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Checkpoint: trace the defect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211215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340657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scenario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815259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checkout defect has been reported in production.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3211215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340657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Your task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815259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pairs, trace the defect through every lifecycle stage.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3211215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340657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question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815259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evidence is produced at each stage?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8316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Delivery methods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457277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lifecycle describes 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must happen</a:t>
            </a:r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methodology describes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the team organizes that work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92795"/>
            <a:ext cx="3504219" cy="46724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323380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Waterfall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103041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moves through defined sequential phases, with formal handoffs and approvals.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201" y="2920504"/>
            <a:ext cx="6903269" cy="259040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10907" y="4882062"/>
            <a:ext cx="1041185" cy="200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spc="-3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8898729" y="4882062"/>
            <a:ext cx="1041185" cy="200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spc="-3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7593682" y="4882062"/>
            <a:ext cx="1041185" cy="200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spc="-3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288635" y="4882062"/>
            <a:ext cx="1041186" cy="200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spc="-3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955062" y="4882062"/>
            <a:ext cx="1041185" cy="200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spc="-3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Requirements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5902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When Waterfall fits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527697"/>
            <a:ext cx="5339820" cy="144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742109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Stable scope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150791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 are well understood and unlikely to change.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527697"/>
            <a:ext cx="5339919" cy="1442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06305" y="2742109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 regulatory controls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506305" y="3150791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demands formal phase gates and documented approvals.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59052"/>
            <a:ext cx="5339820" cy="113992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7479" y="4373463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Fixed contractual deliverables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77479" y="4782145"/>
            <a:ext cx="48094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Scope, cost, and schedule are agreed in advance.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0301" y="4159052"/>
            <a:ext cx="5339919" cy="113992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06305" y="4373463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Expensive late-stage change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506305" y="4782145"/>
            <a:ext cx="48095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Rework costs are high once construction begins.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4254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Waterfall trade-off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211215"/>
            <a:ext cx="10868745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3217565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66156" y="0"/>
                </a:moveTo>
                <a:lnTo>
                  <a:pt x="5428023" y="0"/>
                </a:lnTo>
                <a:lnTo>
                  <a:pt x="5428023" y="1391543"/>
                </a:lnTo>
                <a:lnTo>
                  <a:pt x="66156" y="1391543"/>
                </a:lnTo>
                <a:arcTo hR="66158" wR="66156" stAng="5400000" swAng="5400000"/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5" name="Text 3"/>
          <p:cNvSpPr/>
          <p:nvPr/>
        </p:nvSpPr>
        <p:spPr>
          <a:xfrm>
            <a:off x="856832" y="3406577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When assumptions are correct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815259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Predictability is high. Phases complete on schedule with expected outcomes.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95848" y="3217565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0" y="0"/>
                </a:moveTo>
                <a:lnTo>
                  <a:pt x="5361866" y="0"/>
                </a:lnTo>
                <a:arcTo hR="66158" wR="66156" stAng="16200000" swAng="5400000"/>
                <a:lnTo>
                  <a:pt x="5428023" y="1325385"/>
                </a:lnTo>
                <a:arcTo hR="66158" wR="66156" stAng="0" swAng="5400000"/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3217565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/>
        </p:spPr>
      </p:sp>
      <p:sp>
        <p:nvSpPr>
          <p:cNvPr id="9" name="Text 7"/>
          <p:cNvSpPr/>
          <p:nvPr/>
        </p:nvSpPr>
        <p:spPr>
          <a:xfrm>
            <a:off x="6284854" y="3406577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When assumptions are wrong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284854" y="3815259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arrives late. Corrections are costly and disruptive.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68952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Agile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56364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 value in small increments, learn from feedback, and adapt the plan.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73002"/>
            <a:ext cx="6903269" cy="39118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2207518"/>
            <a:ext cx="350421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Scrum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032251" y="2987179"/>
            <a:ext cx="3504219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Scrum organizes work into time-boxed sprints that produce a usable increment.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sprint is a complete mini-lifecycle: plan, build, test, review, and retrospect—typically two weeks long.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1572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Scrum roles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984401"/>
            <a:ext cx="3496877" cy="1857871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3179763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800" y="3335635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3935809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Owner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4344491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and priority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2984401"/>
            <a:ext cx="3496877" cy="1857871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42716" y="3179763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4542716" y="3935809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Scrum Master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4542716" y="4344491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 and facilitation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033244" y="2984401"/>
            <a:ext cx="3496877" cy="1857871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8600" y="3179763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4568" y="3335635"/>
            <a:ext cx="255085" cy="25509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28600" y="3935809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Developers</a:t>
            </a:r>
            <a:endParaRPr lang="en-US" sz="1850" dirty="0"/>
          </a:p>
        </p:txBody>
      </p:sp>
      <p:sp>
        <p:nvSpPr>
          <p:cNvPr id="16" name="Text 12"/>
          <p:cNvSpPr/>
          <p:nvPr/>
        </p:nvSpPr>
        <p:spPr>
          <a:xfrm>
            <a:off x="8228600" y="4344491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the increment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0982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Scrum events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578497"/>
            <a:ext cx="5339820" cy="567035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89605" y="268476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482" y="3334544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Sprint Planning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190301" y="2578497"/>
            <a:ext cx="5339919" cy="567035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18530" y="268476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379308" y="3334544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Daily Scrum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61475" y="4007842"/>
            <a:ext cx="5339820" cy="567035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9605" y="411410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50482" y="4763889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Sprint Review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6190301" y="4007842"/>
            <a:ext cx="5339919" cy="567035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18530" y="411410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spc="-6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79308" y="4763889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Retrospective</a:t>
            </a:r>
            <a:endParaRPr lang="en-US" sz="1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86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Scrum artifacts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37370"/>
            <a:ext cx="5339820" cy="16814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17931" y="2279154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spc="-45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75881" y="2893318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Backlog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3302000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Ordered list of all desired work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137370"/>
            <a:ext cx="5339919" cy="168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46757" y="2279154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spc="-45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404708" y="2893318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Sprint Backlog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404708" y="3302000"/>
            <a:ext cx="4911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selected for the current sprint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007842"/>
            <a:ext cx="5339820" cy="16814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17931" y="414962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spc="-45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75881" y="4763790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Increment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75881" y="5172472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Usable output of each sprint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0301" y="4007842"/>
            <a:ext cx="5339919" cy="16814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46757" y="414962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spc="-45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6404708" y="4763790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Definition of Done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6404708" y="5172472"/>
            <a:ext cx="4911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quality standard for completion</a:t>
            </a:r>
            <a:endParaRPr lang="en-US" sz="14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73002"/>
            <a:ext cx="6903269" cy="39118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2056309"/>
            <a:ext cx="350421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Kanban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032251" y="2835970"/>
            <a:ext cx="3504219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work, limit work in progress, and improve continuous flow.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Kanban is a pull-based system: new work enters only when capacity exists, preventing overload and revealing bottlenecks.</a:t>
            </a:r>
            <a:endParaRPr lang="en-US" sz="14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7209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Kanban fits sustain work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944936" y="3353395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Incidents, defects, service requests, and improvements arrive continuously—not neatly at sprint boundaries.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140770"/>
            <a:ext cx="25399" cy="727670"/>
          </a:xfrm>
          <a:prstGeom prst="roundRect">
            <a:avLst>
              <a:gd name="adj" fmla="val 50001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408106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Kanban's continuous flow model matches the unpredictable, interrupt-driven nature of sustain engineering. Work is pulled as capacity allows, not pushed into fixed time boxes.</a:t>
            </a:r>
            <a:endParaRPr lang="en-US" sz="14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5644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WIP limits reveal bottlenecks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230563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Starting less work helps teams finish more work.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745607"/>
            <a:ext cx="6296860" cy="755948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67" y="4013299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47608" y="3981847"/>
            <a:ext cx="61031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If testing is full, stop starting and help finish.</a:t>
            </a:r>
            <a:endParaRPr lang="en-US" sz="14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68952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DevOps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56364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DevOps combines culture, automation, measurement, and shared ownership to improve delivery and reliability.</a:t>
            </a:r>
            <a:endParaRPr lang="en-US" sz="14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937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DevOps is not a tool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362424"/>
            <a:ext cx="10868745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3368774"/>
            <a:ext cx="5428023" cy="1089124"/>
          </a:xfrm>
          <a:custGeom>
            <a:avLst/>
            <a:gdLst/>
            <a:ahLst/>
            <a:cxnLst/>
            <a:rect l="l" t="t" r="r" b="b"/>
            <a:pathLst>
              <a:path w="5428023" h="1089124">
                <a:moveTo>
                  <a:pt x="66156" y="0"/>
                </a:moveTo>
                <a:lnTo>
                  <a:pt x="5428023" y="0"/>
                </a:lnTo>
                <a:lnTo>
                  <a:pt x="5428023" y="1089124"/>
                </a:lnTo>
                <a:lnTo>
                  <a:pt x="66156" y="1089124"/>
                </a:lnTo>
                <a:arcTo hR="66158" wR="66156" stAng="5400000" swAng="5400000"/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5" name="Text 3"/>
          <p:cNvSpPr/>
          <p:nvPr/>
        </p:nvSpPr>
        <p:spPr>
          <a:xfrm>
            <a:off x="856832" y="3557786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Enablers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966468"/>
            <a:ext cx="50500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CI/CD, containers, and cloud platforms enable DevOps.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95848" y="3368774"/>
            <a:ext cx="5428023" cy="1089124"/>
          </a:xfrm>
          <a:custGeom>
            <a:avLst/>
            <a:gdLst/>
            <a:ahLst/>
            <a:cxnLst/>
            <a:rect l="l" t="t" r="r" b="b"/>
            <a:pathLst>
              <a:path w="5428023" h="1089124">
                <a:moveTo>
                  <a:pt x="0" y="0"/>
                </a:moveTo>
                <a:lnTo>
                  <a:pt x="5361866" y="0"/>
                </a:lnTo>
                <a:arcTo hR="66158" wR="66156" stAng="16200000" swAng="5400000"/>
                <a:lnTo>
                  <a:pt x="5428023" y="1022966"/>
                </a:lnTo>
                <a:arcTo hR="66158" wR="66156" stAng="0" swAng="5400000"/>
                <a:lnTo>
                  <a:pt x="0" y="1089124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3368774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/>
        </p:spPr>
      </p:sp>
      <p:sp>
        <p:nvSpPr>
          <p:cNvPr id="9" name="Text 7"/>
          <p:cNvSpPr/>
          <p:nvPr/>
        </p:nvSpPr>
        <p:spPr>
          <a:xfrm>
            <a:off x="6284854" y="3557786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they cannot replace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284854" y="3966468"/>
            <a:ext cx="50500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do not replace collaboration or accountability.</a:t>
            </a:r>
            <a:endParaRPr lang="en-US" sz="14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8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CALMS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376785"/>
            <a:ext cx="3496877" cy="1442045"/>
          </a:xfrm>
          <a:prstGeom prst="roundRect">
            <a:avLst>
              <a:gd name="adj" fmla="val 55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2572147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800" y="2728020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3328194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Culture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4347359" y="2376785"/>
            <a:ext cx="3496877" cy="1442045"/>
          </a:xfrm>
          <a:prstGeom prst="roundRect">
            <a:avLst>
              <a:gd name="adj" fmla="val 55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42716" y="2572147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684" y="2728020"/>
            <a:ext cx="255085" cy="2550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42716" y="3328194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Automation</a:t>
            </a:r>
            <a:endParaRPr lang="en-US" sz="1850" dirty="0"/>
          </a:p>
        </p:txBody>
      </p:sp>
      <p:sp>
        <p:nvSpPr>
          <p:cNvPr id="11" name="Shape 7"/>
          <p:cNvSpPr/>
          <p:nvPr/>
        </p:nvSpPr>
        <p:spPr>
          <a:xfrm>
            <a:off x="8033244" y="2376785"/>
            <a:ext cx="3496877" cy="1442045"/>
          </a:xfrm>
          <a:prstGeom prst="roundRect">
            <a:avLst>
              <a:gd name="adj" fmla="val 55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228600" y="2572147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4568" y="2728020"/>
            <a:ext cx="255085" cy="2550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8600" y="3328194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Lean</a:t>
            </a:r>
            <a:endParaRPr lang="en-US" sz="1850" dirty="0"/>
          </a:p>
        </p:txBody>
      </p:sp>
      <p:sp>
        <p:nvSpPr>
          <p:cNvPr id="15" name="Shape 10"/>
          <p:cNvSpPr/>
          <p:nvPr/>
        </p:nvSpPr>
        <p:spPr>
          <a:xfrm>
            <a:off x="661475" y="4007842"/>
            <a:ext cx="5339820" cy="1442045"/>
          </a:xfrm>
          <a:prstGeom prst="roundRect">
            <a:avLst>
              <a:gd name="adj" fmla="val 55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56832" y="4203204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800" y="4359077"/>
            <a:ext cx="255085" cy="2550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6832" y="495925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Measurement</a:t>
            </a:r>
            <a:endParaRPr lang="en-US" sz="1850" dirty="0"/>
          </a:p>
        </p:txBody>
      </p:sp>
      <p:sp>
        <p:nvSpPr>
          <p:cNvPr id="19" name="Shape 13"/>
          <p:cNvSpPr/>
          <p:nvPr/>
        </p:nvSpPr>
        <p:spPr>
          <a:xfrm>
            <a:off x="6190301" y="4007842"/>
            <a:ext cx="5339820" cy="1442045"/>
          </a:xfrm>
          <a:prstGeom prst="roundRect">
            <a:avLst>
              <a:gd name="adj" fmla="val 55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385658" y="4203204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1626" y="4359077"/>
            <a:ext cx="255085" cy="25509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85658" y="495925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Sharing</a:t>
            </a:r>
            <a:endParaRPr lang="en-US" sz="1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352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Choose by context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92201"/>
            <a:ext cx="5339820" cy="144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106613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Waterfall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515295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controlled sequence with stable requirements and formal approvals.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1892201"/>
            <a:ext cx="5339919" cy="1442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06305" y="2106613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Scrum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506305" y="2515295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iterative product work with evolving requirements and regular feedback.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523555"/>
            <a:ext cx="5339820" cy="1442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7479" y="3737967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Kanban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77479" y="4146649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continuous flow of incoming work without fixed time boxes.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0301" y="3523555"/>
            <a:ext cx="5339919" cy="1442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06305" y="3737967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DevOps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506305" y="4146649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shared delivery and operations with automation and measurement.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661475" y="5178524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482" y="5446216"/>
            <a:ext cx="236234" cy="18901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75723" y="5414764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 organizations often combine them.</a:t>
            </a:r>
            <a:endParaRPr lang="en-US" sz="14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0658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 activity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7526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 method for each scenario: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390305"/>
            <a:ext cx="5339820" cy="685998"/>
          </a:xfrm>
          <a:prstGeom prst="roundRect">
            <a:avLst>
              <a:gd name="adj" fmla="val 115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6832" y="3585666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🏦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Banking regulation change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190301" y="3390305"/>
            <a:ext cx="5339919" cy="685998"/>
          </a:xfrm>
          <a:prstGeom prst="roundRect">
            <a:avLst>
              <a:gd name="adj" fmla="val 115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3585666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New loyalty feature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661475" y="4265315"/>
            <a:ext cx="5339820" cy="685998"/>
          </a:xfrm>
          <a:prstGeom prst="roundRect">
            <a:avLst>
              <a:gd name="adj" fmla="val 115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6832" y="4460677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🛠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Production support queue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6190301" y="4265315"/>
            <a:ext cx="5339919" cy="685998"/>
          </a:xfrm>
          <a:prstGeom prst="roundRect">
            <a:avLst>
              <a:gd name="adj" fmla="val 1157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5658" y="4460677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☁️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Daily cloud deployment</a:t>
            </a:r>
            <a:endParaRPr lang="en-US" sz="1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Requirements create alignment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documents preserve the reasoning between business intent and system behavior.</a:t>
            </a:r>
            <a:endParaRPr lang="en-US" sz="14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73002"/>
            <a:ext cx="6903269" cy="39118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1458516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BRD: the business view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032251" y="2828826"/>
            <a:ext cx="3504219" cy="25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Business Requirements Document explains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the initiative exists and what outcome matters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BRD is written for business stakeholders. It captures the problem being solved, the expected benefit, and the boundaries of the initiative—before any technical solution is proposed.</a:t>
            </a:r>
            <a:endParaRPr lang="en-US" sz="14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7207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BRD contents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964359"/>
            <a:ext cx="189007" cy="1890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3236615"/>
            <a:ext cx="3496877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2"/>
          <p:cNvSpPr/>
          <p:nvPr/>
        </p:nvSpPr>
        <p:spPr>
          <a:xfrm>
            <a:off x="661475" y="3381871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objective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964359"/>
            <a:ext cx="189007" cy="1890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347359" y="3236615"/>
            <a:ext cx="3496877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8" name="Text 4"/>
          <p:cNvSpPr/>
          <p:nvPr/>
        </p:nvSpPr>
        <p:spPr>
          <a:xfrm>
            <a:off x="4347359" y="3381871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Scope</a:t>
            </a:r>
            <a:endParaRPr lang="en-US" sz="1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964359"/>
            <a:ext cx="189007" cy="18901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033244" y="3236615"/>
            <a:ext cx="3496877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6"/>
          <p:cNvSpPr/>
          <p:nvPr/>
        </p:nvSpPr>
        <p:spPr>
          <a:xfrm>
            <a:off x="8033244" y="3381871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Stakeholders</a:t>
            </a:r>
            <a:endParaRPr lang="en-US" sz="1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031456"/>
            <a:ext cx="189007" cy="18901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61475" y="4303712"/>
            <a:ext cx="5339820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8"/>
          <p:cNvSpPr/>
          <p:nvPr/>
        </p:nvSpPr>
        <p:spPr>
          <a:xfrm>
            <a:off x="661475" y="4448969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Success criteria</a:t>
            </a:r>
            <a:endParaRPr lang="en-US" sz="18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90301" y="4031456"/>
            <a:ext cx="189007" cy="189012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190301" y="4303712"/>
            <a:ext cx="5339820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0"/>
          <p:cNvSpPr/>
          <p:nvPr/>
        </p:nvSpPr>
        <p:spPr>
          <a:xfrm>
            <a:off x="6190301" y="4448969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Constraints and assumptions</a:t>
            </a:r>
            <a:endParaRPr lang="en-US" sz="1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58516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SRS: the system view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28826"/>
            <a:ext cx="3504219" cy="25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Software Requirements Specification defines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the system must do and how well it must perform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SRS bridges business intent and technical design. It is the primary reference for developers, testers, and architects throughout the build and test stages.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3201" y="1473002"/>
            <a:ext cx="6903269" cy="391189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57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SRS contents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014438"/>
            <a:ext cx="5339820" cy="1139924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5881" y="2228850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Functional requirements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75881" y="2637532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system must do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014438"/>
            <a:ext cx="5339919" cy="1139924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4708" y="2228850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Non-functional requirements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404708" y="2637532"/>
            <a:ext cx="4911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well it must perform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343374"/>
            <a:ext cx="5339820" cy="1139924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5881" y="3557786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Interfaces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75881" y="3966468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system connections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343374"/>
            <a:ext cx="5339919" cy="1139924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4708" y="3557786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requirements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404708" y="3966468"/>
            <a:ext cx="4911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and constraints on data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4672310"/>
            <a:ext cx="5339820" cy="1139924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5881" y="4886722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Constraints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875881" y="5295404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and regulatory limits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190301" y="4672310"/>
            <a:ext cx="5339919" cy="1139924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4708" y="4886722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Error behavior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404708" y="5295404"/>
            <a:ext cx="4911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system handles failures</a:t>
            </a:r>
            <a:endParaRPr lang="en-US" sz="14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73002"/>
            <a:ext cx="6903269" cy="39118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1609725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FRD: the functional detail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032251" y="2980035"/>
            <a:ext cx="3504219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Functional Requirements Document describes detailed workflows, rules, inputs, outputs, and exceptions.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SRS defines what the system must do, the FRD explains exactly how each function works—step by step, field by field, exception by exception.</a:t>
            </a:r>
            <a:endParaRPr lang="en-US" sz="14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3458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BRD vs SRS vs FRD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003252"/>
            <a:ext cx="3496877" cy="1820069"/>
          </a:xfrm>
          <a:prstGeom prst="roundRect">
            <a:avLst>
              <a:gd name="adj" fmla="val 436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3198614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BRD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607296"/>
            <a:ext cx="3106164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does this initiative exist? What outcome do we need?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3003252"/>
            <a:ext cx="3496877" cy="1820069"/>
          </a:xfrm>
          <a:prstGeom prst="roundRect">
            <a:avLst>
              <a:gd name="adj" fmla="val 436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3198614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SRS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607296"/>
            <a:ext cx="3106164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must the system do and how well must it perform?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3003252"/>
            <a:ext cx="3496877" cy="1820069"/>
          </a:xfrm>
          <a:prstGeom prst="roundRect">
            <a:avLst>
              <a:gd name="adj" fmla="val 436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3198614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FRD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607296"/>
            <a:ext cx="3106164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</a:t>
            </a:r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does each function work in detail?</a:t>
            </a:r>
            <a:endParaRPr lang="en-US" sz="14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99298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Traceability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186709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requirement should connect to design, code, tests, release evidence, and operational monitoring.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2684562"/>
            <a:ext cx="6296860" cy="236289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321134" y="4473842"/>
            <a:ext cx="949741" cy="18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spc="-3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Release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9124201" y="4473842"/>
            <a:ext cx="949741" cy="18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spc="-3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Tests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7933773" y="4473842"/>
            <a:ext cx="949740" cy="18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spc="-3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Code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743345" y="4473842"/>
            <a:ext cx="949740" cy="18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spc="-3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526897" y="4473842"/>
            <a:ext cx="949740" cy="18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spc="-3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Requirement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233360" y="526008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Traceability makes it possible to answer: "Which tests cover this requirement?" and "Which requirements does this change affect?"</a:t>
            </a:r>
            <a:endParaRPr lang="en-US" sz="14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68952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STLC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56364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Software Testing Life Cycle structures quality work from requirement analysis through test closure.</a:t>
            </a:r>
            <a:endParaRPr lang="en-US" sz="14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9374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spc="-8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STLC phases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05012"/>
            <a:ext cx="708801" cy="8506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6536" y="1346696"/>
            <a:ext cx="10053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Analyze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055614"/>
            <a:ext cx="708801" cy="8506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76536" y="2197298"/>
            <a:ext cx="10053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906216"/>
            <a:ext cx="708801" cy="85060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76536" y="3047901"/>
            <a:ext cx="10053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 tests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756819"/>
            <a:ext cx="708801" cy="85060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476536" y="3898503"/>
            <a:ext cx="10053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Prepare environment</a:t>
            </a:r>
            <a:endParaRPr lang="en-US" sz="13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607421"/>
            <a:ext cx="708801" cy="85060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476536" y="4749105"/>
            <a:ext cx="10053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Execute</a:t>
            </a:r>
            <a:endParaRPr lang="en-US" sz="13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5458023"/>
            <a:ext cx="708801" cy="85060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476536" y="5599708"/>
            <a:ext cx="10053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Close</a:t>
            </a:r>
            <a:endParaRPr lang="en-US" sz="13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73002"/>
            <a:ext cx="6903269" cy="39118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1409005"/>
            <a:ext cx="350421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Shift left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032251" y="2188666"/>
            <a:ext cx="35042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ambiguity and risk before code is expensive to change.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8032251" y="3006130"/>
            <a:ext cx="3504219" cy="1039416"/>
          </a:xfrm>
          <a:prstGeom prst="roundRect">
            <a:avLst>
              <a:gd name="adj" fmla="val 7638"/>
            </a:avLst>
          </a:prstGeom>
          <a:solidFill>
            <a:srgbClr val="DADBF1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58" y="3292872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46499" y="3223419"/>
            <a:ext cx="27009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earliest useful test is a test of the requirement.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8032251" y="4258171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Reviewing requirements for clarity, completeness, and testability before design begins is the highest-leverage quality activity available to a team.</a:t>
            </a:r>
            <a:endParaRPr lang="en-US" sz="14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8461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 type changes the test strategy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453283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453283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2861965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Cross-browser, responsive, accessibility, and load testing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453283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836" y="2453283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Mobile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071836" y="2861965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 fragmentation, offline behavior, and battery impact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2453283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3496" y="2453283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773496" y="2861965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 testing, error codes, and rate limit behavior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844826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0177" y="3844826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Batch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370177" y="4253508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Volume, idempotency, and failure recovery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3135" y="3844826"/>
            <a:ext cx="472468" cy="472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71836" y="3844826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5071836" y="4253508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Latency, ordering, and backpressure handling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661475" y="507097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Web, mobile, API, batch, and real-time systems fail in different ways.</a:t>
            </a:r>
            <a:endParaRPr lang="en-US" sz="14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Environments protect customers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Changes gain confidence as they move through isolated environments toward production.</a:t>
            </a:r>
            <a:endParaRPr lang="en-US" sz="14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73002"/>
            <a:ext cx="6903269" cy="39118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1113730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Local and Development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032251" y="2484041"/>
            <a:ext cx="35042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feedback, synthetic data, verbose logs, and frequent change.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8032251" y="3301504"/>
            <a:ext cx="3504219" cy="1039416"/>
          </a:xfrm>
          <a:prstGeom prst="roundRect">
            <a:avLst>
              <a:gd name="adj" fmla="val 7638"/>
            </a:avLst>
          </a:prstGeom>
          <a:solidFill>
            <a:srgbClr val="DADBF1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58" y="3588246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46499" y="3518793"/>
            <a:ext cx="27009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Optimized for learning—not customer traffic.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8032251" y="4553545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and development environments are designed for speed of iteration. Failures here are expected and cheap. The goal is rapid learning, not stability.</a:t>
            </a:r>
            <a:endParaRPr lang="en-US" sz="14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7405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and Staging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77716"/>
            <a:ext cx="3504219" cy="2891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services, realistic configuration, controlled test data, and release validation.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and staging environments mirror production as closely as possible. They are where integration failures, configuration errors, and performance issues are discovered before customers are affected.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3201" y="1473002"/>
            <a:ext cx="6903269" cy="391189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68952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56364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users, protected data, strict access, monitoring, backups, and formal change control.</a:t>
            </a:r>
            <a:endParaRPr lang="en-US" sz="14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4254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Environment parity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211215"/>
            <a:ext cx="10868745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3217565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66156" y="0"/>
                </a:moveTo>
                <a:lnTo>
                  <a:pt x="5428023" y="0"/>
                </a:lnTo>
                <a:lnTo>
                  <a:pt x="5428023" y="1391543"/>
                </a:lnTo>
                <a:lnTo>
                  <a:pt x="66156" y="1391543"/>
                </a:lnTo>
                <a:arcTo hR="66158" wR="66156" stAng="5400000" swAng="5400000"/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5" name="Text 3"/>
          <p:cNvSpPr/>
          <p:nvPr/>
        </p:nvSpPr>
        <p:spPr>
          <a:xfrm>
            <a:off x="856832" y="3406577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principle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815259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environments similar enough that testing predicts production behavior.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95848" y="3217565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0" y="0"/>
                </a:moveTo>
                <a:lnTo>
                  <a:pt x="5361866" y="0"/>
                </a:lnTo>
                <a:arcTo hR="66158" wR="66156" stAng="16200000" swAng="5400000"/>
                <a:lnTo>
                  <a:pt x="5428023" y="1325385"/>
                </a:lnTo>
                <a:arcTo hR="66158" wR="66156" stAng="0" swAng="5400000"/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3217565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/>
        </p:spPr>
      </p:sp>
      <p:sp>
        <p:nvSpPr>
          <p:cNvPr id="9" name="Text 7"/>
          <p:cNvSpPr/>
          <p:nvPr/>
        </p:nvSpPr>
        <p:spPr>
          <a:xfrm>
            <a:off x="6284854" y="3406577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practice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284854" y="3815259"/>
            <a:ext cx="50500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Same artifact; environment-specific configuration.</a:t>
            </a:r>
            <a:endParaRPr lang="en-US" sz="14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43195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Production incident scenario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306068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Checkout totals are wrong for discounted orders.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team must diagnose, fix, verify, approve, deploy, monitor, and document the outcome.</a:t>
            </a:r>
            <a:endParaRPr lang="en-US" sz="14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25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safe sustain loop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03078"/>
            <a:ext cx="334329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Observe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3772" y="2011263"/>
            <a:ext cx="3804051" cy="380414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6780" y="2521446"/>
            <a:ext cx="282766" cy="28277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86830" y="2403078"/>
            <a:ext cx="334339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Triage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772" y="2011263"/>
            <a:ext cx="3804051" cy="3804146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08419" y="2750344"/>
            <a:ext cx="282766" cy="28277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375837" y="3765649"/>
            <a:ext cx="31543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Analyze</a:t>
            </a:r>
            <a:endParaRPr lang="en-US" sz="18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3772" y="2011263"/>
            <a:ext cx="3804051" cy="3804146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66004" y="4000698"/>
            <a:ext cx="282766" cy="282773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8186830" y="5128220"/>
            <a:ext cx="334339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Fix</a:t>
            </a:r>
            <a:endParaRPr lang="en-US" sz="1850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3772" y="2011263"/>
            <a:ext cx="3804051" cy="3804146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1951" y="5022155"/>
            <a:ext cx="282766" cy="282773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661475" y="5128220"/>
            <a:ext cx="334329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→ Approve → Deploy</a:t>
            </a:r>
            <a:endParaRPr lang="en-US" sz="1850" dirty="0"/>
          </a:p>
        </p:txBody>
      </p:sp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93772" y="2011263"/>
            <a:ext cx="3804051" cy="3804146"/>
          </a:xfrm>
          <a:prstGeom prst="rect">
            <a:avLst/>
          </a:prstGeom>
        </p:spPr>
      </p:pic>
      <p:pic>
        <p:nvPicPr>
          <p:cNvPr id="17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100311" y="4793258"/>
            <a:ext cx="282766" cy="282773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661475" y="3765649"/>
            <a:ext cx="31542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Verify → Learn</a:t>
            </a:r>
            <a:endParaRPr lang="en-US" sz="1850" dirty="0"/>
          </a:p>
        </p:txBody>
      </p:sp>
      <p:pic>
        <p:nvPicPr>
          <p:cNvPr id="19" name="Image 10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3772" y="2011263"/>
            <a:ext cx="3804051" cy="3804146"/>
          </a:xfrm>
          <a:prstGeom prst="rect">
            <a:avLst/>
          </a:prstGeom>
        </p:spPr>
      </p:pic>
      <p:pic>
        <p:nvPicPr>
          <p:cNvPr id="20" name="Image 11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42726" y="3542903"/>
            <a:ext cx="282766" cy="282773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56332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10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 takeaway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5502633" y="1665288"/>
            <a:ext cx="602758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Speed is valuable only when the change remains understandable, testable, observable, and reversible.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233360" y="1473398"/>
            <a:ext cx="25399" cy="943967"/>
          </a:xfrm>
          <a:prstGeom prst="roundRect">
            <a:avLst>
              <a:gd name="adj" fmla="val 50001"/>
            </a:avLst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5233360" y="2609255"/>
            <a:ext cx="690644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Next: Jira and Confluence—turning the lifecycle into visible team execution.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233360" y="3081238"/>
            <a:ext cx="6296860" cy="652165"/>
          </a:xfrm>
          <a:prstGeom prst="roundRect">
            <a:avLst>
              <a:gd name="adj" fmla="val 1156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19193" y="3267075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Understandable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33360" y="3903960"/>
            <a:ext cx="6296860" cy="652165"/>
          </a:xfrm>
          <a:prstGeom prst="roundRect">
            <a:avLst>
              <a:gd name="adj" fmla="val 1156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19193" y="4089797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Testable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233360" y="4726682"/>
            <a:ext cx="6296860" cy="652165"/>
          </a:xfrm>
          <a:prstGeom prst="roundRect">
            <a:avLst>
              <a:gd name="adj" fmla="val 1156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19193" y="4912519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Observable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5233360" y="5549404"/>
            <a:ext cx="6296860" cy="652165"/>
          </a:xfrm>
          <a:prstGeom prst="roundRect">
            <a:avLst>
              <a:gd name="adj" fmla="val 1156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19193" y="5735241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Reversible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2026-08-16T09:49:22Z</dcterms:created>
  <dcterms:modified xsi:type="dcterms:W3CDTF">2026-08-16T09:49:22Z</dcterms:modified>
</cp:coreProperties>
</file>